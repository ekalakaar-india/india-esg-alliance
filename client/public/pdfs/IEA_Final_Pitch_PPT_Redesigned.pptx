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32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jpeg"/><Relationship Id="rId7" Type="http://schemas.openxmlformats.org/officeDocument/2006/relationships/image" Target="../media/image32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jpe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011680"/>
            <a:ext cx="4754880" cy="4754880"/>
          </a:xfrm>
          <a:prstGeom prst="ellipse">
            <a:avLst/>
          </a:prstGeom>
          <a:ln w="15875">
            <a:solidFill>
              <a:srgbClr val="F0B42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ln w="15875">
            <a:solidFill>
              <a:srgbClr val="F0B42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914400"/>
            <a:ext cx="2560320" cy="2560320"/>
          </a:xfrm>
          <a:prstGeom prst="ellipse">
            <a:avLst/>
          </a:prstGeom>
          <a:ln w="15875">
            <a:solidFill>
              <a:srgbClr val="F0B42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011680" y="4114800"/>
            <a:ext cx="4754880" cy="4754880"/>
          </a:xfrm>
          <a:prstGeom prst="ellipse">
            <a:avLst/>
          </a:prstGeom>
          <a:ln w="15875">
            <a:solidFill>
              <a:srgbClr val="F0B429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ln w="15875">
            <a:solidFill>
              <a:srgbClr val="F0B429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914400" y="5212080"/>
            <a:ext cx="2560320" cy="2560320"/>
          </a:xfrm>
          <a:prstGeom prst="ellipse">
            <a:avLst/>
          </a:prstGeom>
          <a:ln w="15875">
            <a:solidFill>
              <a:srgbClr val="F0B429">
                <a:alpha val="25000"/>
              </a:srgbClr>
            </a:solidFill>
            <a:prstDash val="solid"/>
          </a:ln>
        </p:spPr>
      </p:sp>
      <p:pic>
        <p:nvPicPr>
          <p:cNvPr id="9" name="Image 0" descr="/home/claude/work/assets/logo_full.jpeg"/>
          <p:cNvPicPr>
            <a:picLocks noChangeAspect="1"/>
          </p:cNvPicPr>
          <p:nvPr/>
        </p:nvPicPr>
        <p:blipFill>
          <a:blip r:embed="rId3"/>
          <a:srcRect t="20362" b="22625"/>
          <a:stretch>
            <a:fillRect/>
          </a:stretch>
        </p:blipFill>
        <p:spPr>
          <a:xfrm>
            <a:off x="4472788" y="694944"/>
            <a:ext cx="2834640" cy="11521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65176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ESG ALLIANCE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1463040" y="3703320"/>
            <a:ext cx="9262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India's ESG Ecosystem for Sustainable and Responsible</a:t>
            </a:r>
            <a:endParaRPr lang="en-US" sz="1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MSMEs and Industries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49428" y="562356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F4C43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428" y="56235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BUILDING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35428" y="562356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F4C43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35428" y="56235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REPORTING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1428" y="562356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F4C43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1428" y="56235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ASSURANCE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07428" y="562356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F4C43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07428" y="56235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INNOVATION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593428" y="562356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F4C43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93428" y="562356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ADVOCACY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0A3D33"/>
          </a:solidFill>
          <a:ln/>
        </p:spPr>
      </p:sp>
      <p:pic>
        <p:nvPicPr>
          <p:cNvPr id="6" name="Image 1" descr="/home/claude/work/icons/quot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36192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426464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is a one-stop ESG market platform combining capacity building, advisory services, reporting support, assessments, research and partnerships — helping organisations move beyond compliance towards sustainable value creation.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2450592"/>
            <a:ext cx="54589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45820" y="262890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0" name="Image 2" descr="/home/claude/work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8" y="2815438"/>
            <a:ext cx="404165" cy="4041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7360" y="26883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691640" y="2930652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trusted and inclusive ESG ecosystem that empowers MSMEs and industries to embrace sustainability, strengthen governance, and create positive social impact.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72784" y="2450592"/>
            <a:ext cx="54589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661404" y="2628900"/>
            <a:ext cx="777240" cy="777240"/>
          </a:xfrm>
          <a:prstGeom prst="ellipse">
            <a:avLst/>
          </a:prstGeom>
          <a:solidFill>
            <a:srgbClr val="A6192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5" name="Image 3" descr="/home/claude/work/icons/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942" y="2815438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52944" y="26883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552944" y="281543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a credible and inclusive ESG ecosystem through knowledge, partnerships, and sustainable action.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57200" y="4617720"/>
            <a:ext cx="5458968" cy="1417320"/>
          </a:xfrm>
          <a:prstGeom prst="roundRect">
            <a:avLst>
              <a:gd name="adj" fmla="val 5161"/>
            </a:avLst>
          </a:prstGeom>
          <a:solidFill>
            <a:srgbClr val="F0B429"/>
          </a:solidFill>
          <a:ln/>
        </p:spPr>
      </p:sp>
      <p:sp>
        <p:nvSpPr>
          <p:cNvPr id="19" name="Shape 13"/>
          <p:cNvSpPr/>
          <p:nvPr/>
        </p:nvSpPr>
        <p:spPr>
          <a:xfrm>
            <a:off x="960120" y="4864608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0" name="Image 4" descr="/home/claude/work/icons/calendar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509320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148840" y="4928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ESTABLISHMENT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2148840" y="518464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3200" dirty="0"/>
          </a:p>
        </p:txBody>
      </p:sp>
      <p:sp>
        <p:nvSpPr>
          <p:cNvPr id="23" name="Shape 16"/>
          <p:cNvSpPr/>
          <p:nvPr/>
        </p:nvSpPr>
        <p:spPr>
          <a:xfrm>
            <a:off x="6272784" y="4617720"/>
            <a:ext cx="5458968" cy="1417320"/>
          </a:xfrm>
          <a:prstGeom prst="roundRect">
            <a:avLst>
              <a:gd name="adj" fmla="val 5161"/>
            </a:avLst>
          </a:prstGeom>
          <a:solidFill>
            <a:srgbClr val="0F4C43"/>
          </a:solidFill>
          <a:ln/>
        </p:spPr>
      </p:sp>
      <p:sp>
        <p:nvSpPr>
          <p:cNvPr id="24" name="Shape 17"/>
          <p:cNvSpPr/>
          <p:nvPr/>
        </p:nvSpPr>
        <p:spPr>
          <a:xfrm>
            <a:off x="6775704" y="4864608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5" name="Image 5" descr="/home/claude/work/icons/globe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509320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64424" y="4928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PRESENCE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964424" y="518464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 India</a:t>
            </a:r>
            <a:endParaRPr lang="en-US" sz="32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Exist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81328"/>
            <a:ext cx="54589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38528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seedl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157984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773936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Potential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911096" y="2020824"/>
            <a:ext cx="3767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MSMEs and small industries hold immense potential waiting to be unlocked.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45352" y="1481328"/>
            <a:ext cx="54589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65392" y="1938528"/>
            <a:ext cx="914400" cy="914400"/>
          </a:xfrm>
          <a:prstGeom prst="ellipse">
            <a:avLst/>
          </a:prstGeom>
          <a:solidFill>
            <a:srgbClr val="A6192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2" name="Image 2" descr="/home/claude/work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2157984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62672" y="1773936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Excluded Access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699248" y="2020824"/>
            <a:ext cx="3767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ESG solutions are limited — MSMEs and small industries remain excluded from the ESG ecosystem.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602736"/>
            <a:ext cx="54589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4059936"/>
            <a:ext cx="914400" cy="914400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7" name="Image 3" descr="/home/claude/work/icons/chart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279392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3895344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Fast-Changing Landscape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911096" y="4142232"/>
            <a:ext cx="3767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regulations, global supply-chain needs, investor expectations, export requirements and sustainable finance are reshaping business fast.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45352" y="3602736"/>
            <a:ext cx="54589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65392" y="4059936"/>
            <a:ext cx="914400" cy="914400"/>
          </a:xfrm>
          <a:prstGeom prst="ellipse">
            <a:avLst/>
          </a:prstGeom>
          <a:solidFill>
            <a:srgbClr val="0F4C4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2" name="Image 4" descr="/home/claude/work/icons/coin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4279392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62672" y="3895344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Compliance Cost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699248" y="4142232"/>
            <a:ext cx="3767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remains a high cost burden for MSMEs and small industries.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57200" y="5742432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0A3D33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5742432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is no longer only about compliance — it is becoming a key driver of market access, investment, brand reputation, and long-term sustainability.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Principles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87993" y="1344168"/>
            <a:ext cx="6615708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6" name="Image 1" descr="/home/claude/work/assets/guiding_princip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53" y="1481328"/>
            <a:ext cx="6341388" cy="5074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Model &amp; Theory of Change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63040"/>
            <a:ext cx="690372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27632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1200" dirty="0"/>
          </a:p>
        </p:txBody>
      </p:sp>
      <p:pic>
        <p:nvPicPr>
          <p:cNvPr id="7" name="Image 1" descr="/home/claude/work/assets/our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48840"/>
            <a:ext cx="6172200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71232" y="1463040"/>
            <a:ext cx="4160520" cy="50749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845552" y="16276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CHANGE</a:t>
            </a:r>
            <a:endParaRPr lang="en-US" sz="1200" dirty="0"/>
          </a:p>
        </p:txBody>
      </p:sp>
      <p:pic>
        <p:nvPicPr>
          <p:cNvPr id="10" name="Image 2" descr="/home/claude/work/assets/theory_of_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972" y="1965960"/>
            <a:ext cx="2987040" cy="4480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Solutions – India ESG Alliance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52498" y="1325880"/>
            <a:ext cx="788670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6" name="Image 1" descr="/home/claude/work/assets/proposed_solu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658" y="1463040"/>
            <a:ext cx="7612380" cy="5074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 FRAMEWORK — 1 OF 5</a:t>
            </a:r>
            <a:endParaRPr lang="en-US" sz="1200" dirty="0"/>
          </a:p>
        </p:txBody>
      </p:sp>
      <p:pic>
        <p:nvPicPr>
          <p:cNvPr id="3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17320"/>
            <a:ext cx="2788920" cy="5120640"/>
          </a:xfrm>
          <a:prstGeom prst="roundRect">
            <a:avLst>
              <a:gd name="adj" fmla="val 2623"/>
            </a:avLst>
          </a:prstGeom>
          <a:solidFill>
            <a:srgbClr val="0A3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7373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1417320" y="2674620"/>
            <a:ext cx="868680" cy="868680"/>
          </a:xfrm>
          <a:prstGeom prst="ellipse">
            <a:avLst/>
          </a:prstGeom>
          <a:solidFill>
            <a:srgbClr val="0F4C4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gradu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803" y="2883103"/>
            <a:ext cx="451714" cy="45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657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Building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Trainings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1394460" y="4754880"/>
            <a:ext cx="9144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knowledge. Driving action.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20440" y="1417320"/>
            <a:ext cx="82113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2" name="Image 2" descr="/home/claude/work/assets/framework_capa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50898"/>
            <a:ext cx="7754112" cy="36534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 FRAMEWORK — 2 OF 5</a:t>
            </a:r>
            <a:endParaRPr lang="en-US" sz="1200" dirty="0"/>
          </a:p>
        </p:txBody>
      </p:sp>
      <p:pic>
        <p:nvPicPr>
          <p:cNvPr id="3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17320"/>
            <a:ext cx="2788920" cy="5120640"/>
          </a:xfrm>
          <a:prstGeom prst="roundRect">
            <a:avLst>
              <a:gd name="adj" fmla="val 2623"/>
            </a:avLst>
          </a:prstGeom>
          <a:solidFill>
            <a:srgbClr val="0A3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7373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1417320" y="2674620"/>
            <a:ext cx="868680" cy="868680"/>
          </a:xfrm>
          <a:prstGeom prst="ellipse">
            <a:avLst/>
          </a:prstGeom>
          <a:solidFill>
            <a:srgbClr val="0F4C4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803" y="2883103"/>
            <a:ext cx="451714" cy="45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657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Reporting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1394460" y="4754880"/>
            <a:ext cx="9144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confidence. Comply with excellence.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20440" y="1417320"/>
            <a:ext cx="82113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2" name="Image 2" descr="/home/claude/work/assets/framework_repor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516" y="1645920"/>
            <a:ext cx="6995160" cy="4663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 FRAMEWORK — 3 OF 5</a:t>
            </a:r>
            <a:endParaRPr lang="en-US" sz="1200" dirty="0"/>
          </a:p>
        </p:txBody>
      </p:sp>
      <p:pic>
        <p:nvPicPr>
          <p:cNvPr id="3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17320"/>
            <a:ext cx="2788920" cy="5120640"/>
          </a:xfrm>
          <a:prstGeom prst="roundRect">
            <a:avLst>
              <a:gd name="adj" fmla="val 2623"/>
            </a:avLst>
          </a:prstGeom>
          <a:solidFill>
            <a:srgbClr val="0A3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7373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1417320" y="2674620"/>
            <a:ext cx="868680" cy="868680"/>
          </a:xfrm>
          <a:prstGeom prst="ellipse">
            <a:avLst/>
          </a:prstGeom>
          <a:solidFill>
            <a:srgbClr val="0F4C4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803" y="2883103"/>
            <a:ext cx="451714" cy="45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657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Assurance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1394460" y="4754880"/>
            <a:ext cx="9144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Measure. Assure. Continuously improve.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20440" y="1417320"/>
            <a:ext cx="82113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2" name="Image 2" descr="/home/claude/work/assets/framework_assess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516" y="1645920"/>
            <a:ext cx="6995160" cy="4663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 FRAMEWORK — 4 OF 5</a:t>
            </a:r>
            <a:endParaRPr lang="en-US" sz="1200" dirty="0"/>
          </a:p>
        </p:txBody>
      </p:sp>
      <p:pic>
        <p:nvPicPr>
          <p:cNvPr id="3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17320"/>
            <a:ext cx="2788920" cy="5120640"/>
          </a:xfrm>
          <a:prstGeom prst="roundRect">
            <a:avLst>
              <a:gd name="adj" fmla="val 2623"/>
            </a:avLst>
          </a:prstGeom>
          <a:solidFill>
            <a:srgbClr val="0A3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7373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1417320" y="2674620"/>
            <a:ext cx="868680" cy="868680"/>
          </a:xfrm>
          <a:prstGeom prst="ellipse">
            <a:avLst/>
          </a:prstGeom>
          <a:solidFill>
            <a:srgbClr val="0F4C4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803" y="2883103"/>
            <a:ext cx="451714" cy="45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657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Solutions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1394460" y="4754880"/>
            <a:ext cx="9144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for impact. Grow responsibly.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20440" y="1417320"/>
            <a:ext cx="82113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2" name="Image 2" descr="/home/claude/work/assets/framework_busi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772171"/>
            <a:ext cx="7754112" cy="44109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 FRAMEWORK — 5 OF 5</a:t>
            </a:r>
            <a:endParaRPr lang="en-US" sz="1200" dirty="0"/>
          </a:p>
        </p:txBody>
      </p:sp>
      <p:pic>
        <p:nvPicPr>
          <p:cNvPr id="3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417320"/>
            <a:ext cx="2788920" cy="5120640"/>
          </a:xfrm>
          <a:prstGeom prst="roundRect">
            <a:avLst>
              <a:gd name="adj" fmla="val 2623"/>
            </a:avLst>
          </a:prstGeom>
          <a:solidFill>
            <a:srgbClr val="0A3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7373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1417320" y="2674620"/>
            <a:ext cx="868680" cy="868680"/>
          </a:xfrm>
          <a:prstGeom prst="ellipse">
            <a:avLst/>
          </a:prstGeom>
          <a:solidFill>
            <a:srgbClr val="0F4C4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mega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803" y="2883103"/>
            <a:ext cx="451714" cy="45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6576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Advocacy &amp;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Development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1394460" y="4754880"/>
            <a:ext cx="9144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policy. Strengthen the ecosystem.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20440" y="1417320"/>
            <a:ext cx="821131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2" name="Image 2" descr="/home/claude/work/assets/framework_poli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908912"/>
            <a:ext cx="7754112" cy="41374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INITIATIVES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One-Day Capacity Building Training on ESG Foundation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481328"/>
            <a:ext cx="5605272" cy="4123944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6" name="Image 1" descr="/home/claude/work/assets/event_trainin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24355"/>
            <a:ext cx="5458968" cy="36378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481328"/>
            <a:ext cx="5605272" cy="4123944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8" name="Image 2" descr="/home/claude/work/assets/event_training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605205"/>
            <a:ext cx="5458968" cy="387619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8864" y="58064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A3D33"/>
          </a:solidFill>
          <a:ln/>
        </p:spPr>
      </p:sp>
      <p:sp>
        <p:nvSpPr>
          <p:cNvPr id="10" name="Text 5"/>
          <p:cNvSpPr/>
          <p:nvPr/>
        </p:nvSpPr>
        <p:spPr>
          <a:xfrm>
            <a:off x="508864" y="58064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ESG Concepts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4312768" y="58064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A3D33"/>
          </a:solidFill>
          <a:ln/>
        </p:spPr>
      </p:sp>
      <p:sp>
        <p:nvSpPr>
          <p:cNvPr id="12" name="Text 7"/>
          <p:cNvSpPr/>
          <p:nvPr/>
        </p:nvSpPr>
        <p:spPr>
          <a:xfrm>
            <a:off x="4312768" y="58064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Compliance Tools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8116672" y="58064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A3D33"/>
          </a:solidFill>
          <a:ln/>
        </p:spPr>
      </p:sp>
      <p:sp>
        <p:nvSpPr>
          <p:cNvPr id="14" name="Text 9"/>
          <p:cNvSpPr/>
          <p:nvPr/>
        </p:nvSpPr>
        <p:spPr>
          <a:xfrm>
            <a:off x="8116672" y="58064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Learning &amp; Discussion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and State Level ESG Summits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" y="1499616"/>
            <a:ext cx="5687568" cy="4818888"/>
          </a:xfrm>
          <a:prstGeom prst="roundRect">
            <a:avLst>
              <a:gd name="adj" fmla="val 15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6" name="Image 1" descr="/home/claude/work/assets/event_summit1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554480"/>
            <a:ext cx="5577840" cy="4709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81344" y="1499616"/>
            <a:ext cx="2852928" cy="481888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8" name="Image 2" descr="/home/claude/work/assets/event_summit2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36208" y="1554480"/>
            <a:ext cx="2743200" cy="287314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25712" y="1499616"/>
            <a:ext cx="2880360" cy="481888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0" name="Image 3" descr="/home/claude/work/assets/event_summit3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80576" y="1554480"/>
            <a:ext cx="2770632" cy="28057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Programs &amp; Initiatives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94944" y="1856232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1" descr="/home/claude/work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20824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636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Compliance Training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63040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MSMEs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61104" y="1417320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98848" y="1856232"/>
            <a:ext cx="658368" cy="658368"/>
          </a:xfrm>
          <a:prstGeom prst="ellipse">
            <a:avLst/>
          </a:prstGeom>
          <a:solidFill>
            <a:srgbClr val="A6192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2" name="Image 2" descr="/home/claude/work/icons/aw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02082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66944" y="15636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CXO ESG Leadership Program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285232" y="196211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MSMEs / Industries / Industry Associations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065008" y="1417320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02752" y="1856232"/>
            <a:ext cx="658368" cy="658368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7" name="Image 3" descr="/home/claude/work/icons/rou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202082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70848" y="15636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Capacity Building Trainings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107424" y="210841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planning &amp; visioning for leaders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57200" y="3099816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4944" y="3538728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2" name="Image 4" descr="/home/claude/work/icons/gea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370332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246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ESG Modules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463040" y="364460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for MSMEs and Industries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4261104" y="3099816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98848" y="3538728"/>
            <a:ext cx="658368" cy="658368"/>
          </a:xfrm>
          <a:prstGeom prst="ellipse">
            <a:avLst/>
          </a:prstGeom>
          <a:solidFill>
            <a:srgbClr val="A6192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7" name="Image 5" descr="/home/claude/work/icons/microscop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70332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66944" y="3246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Diagnostics &amp; Strategy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5266944" y="364460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for organisations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8065008" y="3099816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02752" y="3538728"/>
            <a:ext cx="658368" cy="658368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32" name="Image 6" descr="/home/claude/work/icons/lightbulb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7344" y="370332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070848" y="3246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Trainings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9070848" y="364460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boost MSME revenue &amp; sustainable growth</a:t>
            </a:r>
            <a:endParaRPr lang="en-US" sz="1600" dirty="0"/>
          </a:p>
        </p:txBody>
      </p:sp>
      <p:sp>
        <p:nvSpPr>
          <p:cNvPr id="35" name="Shape 26"/>
          <p:cNvSpPr/>
          <p:nvPr/>
        </p:nvSpPr>
        <p:spPr>
          <a:xfrm>
            <a:off x="457200" y="4782312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94944" y="5221224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37" name="Image 7" descr="/home/claude/work/icons/ban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385816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463040" y="492861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Policy Advisory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1463040" y="532710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and program management support to governments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4261104" y="4782312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4498848" y="5221224"/>
            <a:ext cx="658368" cy="658368"/>
          </a:xfrm>
          <a:prstGeom prst="ellipse">
            <a:avLst/>
          </a:prstGeom>
          <a:solidFill>
            <a:srgbClr val="A6192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42" name="Image 8" descr="/home/claude/work/icons/ship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3440" y="5385816"/>
            <a:ext cx="329184" cy="32918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266944" y="492861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Exporters Program</a:t>
            </a:r>
            <a:endParaRPr lang="en-US" sz="1600" dirty="0"/>
          </a:p>
        </p:txBody>
      </p:sp>
      <p:sp>
        <p:nvSpPr>
          <p:cNvPr id="44" name="Text 33"/>
          <p:cNvSpPr/>
          <p:nvPr/>
        </p:nvSpPr>
        <p:spPr>
          <a:xfrm>
            <a:off x="5266944" y="532710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Export-readiness support for MSMEs</a:t>
            </a:r>
            <a:endParaRPr lang="en-US" sz="1600" dirty="0"/>
          </a:p>
        </p:txBody>
      </p:sp>
      <p:sp>
        <p:nvSpPr>
          <p:cNvPr id="45" name="Shape 34"/>
          <p:cNvSpPr/>
          <p:nvPr/>
        </p:nvSpPr>
        <p:spPr>
          <a:xfrm>
            <a:off x="8065008" y="4782312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8302752" y="5221224"/>
            <a:ext cx="658368" cy="658368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47" name="Image 9" descr="/home/claude/work/icons/globe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344" y="5385816"/>
            <a:ext cx="329184" cy="32918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9070848" y="492861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MSMEs Forum</a:t>
            </a:r>
            <a:endParaRPr lang="en-US" sz="1600" dirty="0"/>
          </a:p>
        </p:txBody>
      </p:sp>
      <p:sp>
        <p:nvSpPr>
          <p:cNvPr id="49" name="Text 37"/>
          <p:cNvSpPr/>
          <p:nvPr/>
        </p:nvSpPr>
        <p:spPr>
          <a:xfrm>
            <a:off x="9070848" y="532710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MSMEs/industries to export abroad</a:t>
            </a:r>
            <a:endParaRPr lang="en-US" sz="1600" dirty="0"/>
          </a:p>
        </p:txBody>
      </p:sp>
      <p:sp>
        <p:nvSpPr>
          <p:cNvPr id="5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51" name="Text 3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and Partners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448" y="16916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6" name="Image 1" descr="/home/claude/work/assets/logo_i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68" y="1965960"/>
            <a:ext cx="1879600" cy="1691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398368" y="16916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8" name="Image 2" descr="/home/claude/work/assets/logo_upgov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568" y="1965960"/>
            <a:ext cx="1691640" cy="1691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87288" y="16916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0" name="Image 3" descr="/home/claude/work/assets/logo_s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879" y="1965960"/>
            <a:ext cx="1936857" cy="169164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8976208" y="16916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2" name="Image 4" descr="/home/claude/work/assets/logo_si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3408" y="1965960"/>
            <a:ext cx="1691640" cy="169164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09448" y="41605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4" name="Image 5" descr="/home/claude/work/assets/logo_kp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768" y="4800733"/>
            <a:ext cx="2057400" cy="95985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3398368" y="41605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6" name="Image 6" descr="/home/claude/work/assets/logo_ekalaka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1674" y="4434840"/>
            <a:ext cx="1739426" cy="169164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6187288" y="41605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18" name="Image 7" descr="/home/claude/work/assets/logo_afc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4488" y="4434840"/>
            <a:ext cx="1691640" cy="1691640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8976208" y="41605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0" name="Image 8" descr="/home/claude/work/assets/logo_panti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3408" y="4434840"/>
            <a:ext cx="1691640" cy="169164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22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Philosophy &amp; Board of Directors</a:t>
            </a:r>
            <a:endParaRPr lang="en-US" sz="3000" dirty="0"/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08760"/>
            <a:ext cx="5120640" cy="5029200"/>
          </a:xfrm>
          <a:prstGeom prst="roundRect">
            <a:avLst>
              <a:gd name="adj" fmla="val 1455"/>
            </a:avLst>
          </a:prstGeom>
          <a:solidFill>
            <a:srgbClr val="0A3D3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64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PHILOSOPHY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2130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IEA's governance is built on three principles: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" y="2642616"/>
            <a:ext cx="658368" cy="658368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9" name="Image 1" descr="/home/claude/work/icons/shield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8072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517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&amp; Independence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54480" y="294436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ESG positioning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68096" y="3483864"/>
            <a:ext cx="658368" cy="658368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3" name="Image 2" descr="/home/claude/work/icons/compass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64845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74711" y="3456431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Oversight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378561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leaders from industry, policy, and academia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68096" y="4325112"/>
            <a:ext cx="658368" cy="658368"/>
          </a:xfrm>
          <a:prstGeom prst="ellipse">
            <a:avLst/>
          </a:prstGeom>
          <a:solidFill>
            <a:srgbClr val="F0B429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7" name="Image 3" descr="/home/claude/work/icons/gears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48970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1397" y="426495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Agility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54480" y="462686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respond to evolving ESG regulations and market needs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31520" y="5221224"/>
            <a:ext cx="4206240" cy="0"/>
          </a:xfrm>
          <a:prstGeom prst="line">
            <a:avLst/>
          </a:prstGeom>
          <a:noFill/>
          <a:ln w="9525">
            <a:solidFill>
              <a:srgbClr val="F0B429">
                <a:alpha val="6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1520" y="537667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serves as a neutral and trusted ESG platform for corporates, investors, policymakers, and partners.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806440" y="1527048"/>
            <a:ext cx="5925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806440" y="1892808"/>
            <a:ext cx="2871216" cy="4480560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4" name="Image 4" descr="/home/claude/work/assets/photo_sanjay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410" y="2093976"/>
            <a:ext cx="1997277" cy="20116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07608" y="4178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Sanjaya Pradhan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007608" y="45171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035040" y="4537349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 social entrepreneur who has previously worked with NSDC, Tata Power and Mahindra Group.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860536" y="1892808"/>
            <a:ext cx="2871216" cy="4480560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9" name="Image 5" descr="/home/claude/work/assets/photo_sta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2093976"/>
            <a:ext cx="2011680" cy="20116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61704" y="4178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Stalin Nayak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9061704" y="45171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9061704" y="481888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development professional and social entrepreneur; founder of the PANTISS group, known for his work on sustainability in mining areas.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241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Advisory Council  —  1 of 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10996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7" name="Image 1" descr="/home/claude/work/assets/adv_ashok_sethi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5860" y="1883664"/>
            <a:ext cx="1261872" cy="1261872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Shri Ashok Sethi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1792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CORPORATE LEADERSHIP EXPERT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0080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Partner, Sustain Edge ESG LLP; former Chairman of PXIL and of Tata Consulting Engineers.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319272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973068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13" name="Image 2" descr="/home/claude/work/assets/adv_subhransu_acharya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27932" y="1883664"/>
            <a:ext cx="1261872" cy="1261872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Dr. Subhransu Sekhar Acharya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483864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CHAIRMAN-CUM-MANAGING DIRECTOR, NSIC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502152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decades across MSME credit, SME ratings and entrepreneurship development; former senior leader at SIDBI.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181344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35140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19" name="Image 3" descr="/home/claude/work/assets/adv_krishna_prasad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90004" y="1883664"/>
            <a:ext cx="1261872" cy="1261872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18504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Dr. Krishna Prasad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345936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MEMBER OF PARLIAMENT &amp; FORMER IPS OFFICER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364224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Brings public administration, governance and accountability perspective to the Alliance.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043416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697212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25" name="Image 4" descr="/home/claude/work/assets/adv_prakash_tewari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52076" y="1883664"/>
            <a:ext cx="1261872" cy="1261872"/>
          </a:xfrm>
          <a:prstGeom prst="ellipse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80576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Colonel Prakash Tewari (Retd.)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9208008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SUSTAINABILITY &amp; SOCIAL IMPACT EXPERT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9226296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Career spanning the Armed Forces and sustainability leadership roles at Tata Power, Jindal Steel &amp; Power and DLF.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241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Advisory Council  —  2 of 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work/assets/logo_ful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1320" y="292608"/>
            <a:ext cx="1170432" cy="1170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10996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7" name="Image 1" descr="/home/claude/work/assets/adv_shankar_murthy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5860" y="1883664"/>
            <a:ext cx="1261872" cy="1261872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Prof. Shankar Murthy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1792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ENVIRONMENTAL ENGINEERING &amp; MANAGEMENT, IIM MUMBAI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0080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in industrial sustainability, process safety and industrial wastewater management.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319272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973068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13" name="Image 2" descr="/home/claude/work/assets/adv_sobins_kuriakose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27932" y="1883664"/>
            <a:ext cx="1261872" cy="1261872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Sobins Kuriakose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483864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DEVELOPMENT &amp; PUBLIC POLICY SPECIALIST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502152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20+ years with NSDC, the World Bank and J-PAL in skilling, institution-building and monitoring &amp; evaluation.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181344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35140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19" name="Image 3" descr="/home/claude/work/assets/adv_mashar_velapurath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90004" y="1883664"/>
            <a:ext cx="1261872" cy="1261872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18504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Shri Mashar Velapurath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345936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DIRECTOR, AFC INDIA LIMITED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364224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Former NABARD leader with deep expertise in climate finance and natural resource management.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043416" y="1508760"/>
            <a:ext cx="2679192" cy="470916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697212" y="1828800"/>
            <a:ext cx="1371600" cy="1371600"/>
          </a:xfrm>
          <a:prstGeom prst="ellips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pic>
        <p:nvPicPr>
          <p:cNvPr id="25" name="Image 4" descr="/home/claude/work/assets/adv_awanesh_kalik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52076" y="1883664"/>
            <a:ext cx="1261872" cy="1261872"/>
          </a:xfrm>
          <a:prstGeom prst="ellipse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80576" y="335584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A3D3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Mr. Awanesh Kalik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9208008" y="3941064"/>
            <a:ext cx="2350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" normalizeH="0" baseline="0" noProof="0" dirty="0">
                <a:ln>
                  <a:noFill/>
                </a:ln>
                <a:solidFill>
                  <a:srgbClr val="A619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DGM &amp; CEO, AFC FOUNDATION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9226296" y="4636008"/>
            <a:ext cx="23134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25+ years in rural development; a recognised national expert on Panchayati Raj Institutions.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15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hoto_forest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pic>
        <p:nvPicPr>
          <p:cNvPr id="3" name="Image 1" descr="/home/claude/work/assets/photo_factory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3898" y="0"/>
            <a:ext cx="4063898" cy="6858000"/>
          </a:xfrm>
          <a:prstGeom prst="rect">
            <a:avLst/>
          </a:prstGeom>
        </p:spPr>
      </p:pic>
      <p:pic>
        <p:nvPicPr>
          <p:cNvPr id="4" name="Image 2" descr="/home/claude/work/assets/photo_windturbines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2514600"/>
            <a:ext cx="12191695" cy="1828800"/>
          </a:xfrm>
          <a:prstGeom prst="rect">
            <a:avLst/>
          </a:prstGeom>
          <a:solidFill>
            <a:srgbClr val="06231D">
              <a:alpha val="8200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548640" y="2697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ESG ALLIANCE (IEA)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548640" y="3246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Future  •  Sustainability  •  Growth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hoto_forest.jpeg"/>
          <p:cNvPicPr>
            <a:picLocks noChangeAspect="1"/>
          </p:cNvPicPr>
          <p:nvPr/>
        </p:nvPicPr>
        <p:blipFill>
          <a:blip r:embed="rId3">
            <a:alphaModFix amt="3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33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1371600" y="-1463040"/>
            <a:ext cx="4754880" cy="4754880"/>
          </a:xfrm>
          <a:prstGeom prst="ellipse">
            <a:avLst/>
          </a:prstGeom>
          <a:ln w="15875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822960" y="-914400"/>
            <a:ext cx="3657600" cy="3657600"/>
          </a:xfrm>
          <a:prstGeom prst="ellipse">
            <a:avLst/>
          </a:prstGeom>
          <a:ln w="15875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-274320" y="-365760"/>
            <a:ext cx="2560320" cy="2560320"/>
          </a:xfrm>
          <a:prstGeom prst="ellipse">
            <a:avLst/>
          </a:prstGeom>
          <a:ln w="15875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65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702644" y="3346102"/>
            <a:ext cx="6035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9" name="Image 1" descr="/home/claude/work/assets/logo_full.jpeg"/>
          <p:cNvPicPr>
            <a:picLocks noChangeAspect="1"/>
          </p:cNvPicPr>
          <p:nvPr/>
        </p:nvPicPr>
        <p:blipFill>
          <a:blip r:embed="rId4"/>
          <a:srcRect t="20266" b="24036"/>
          <a:stretch>
            <a:fillRect/>
          </a:stretch>
        </p:blipFill>
        <p:spPr>
          <a:xfrm>
            <a:off x="1089259" y="3383280"/>
            <a:ext cx="2103120" cy="11286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65860" y="4640580"/>
            <a:ext cx="502920" cy="502920"/>
          </a:xfrm>
          <a:prstGeom prst="ellipse">
            <a:avLst/>
          </a:prstGeom>
          <a:solidFill>
            <a:srgbClr val="A6192E"/>
          </a:solidFill>
          <a:ln/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2" descr="/home/claude/work/icons/mapMark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017" y="475373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67379" y="4484169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No. 8, P3, J Wing, Rustomjee Azziano Road,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Majhiwada, Thane West, Maharashtra – 400601, India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7315200" y="3383280"/>
            <a:ext cx="4142232" cy="2331720"/>
          </a:xfrm>
          <a:prstGeom prst="roundRect">
            <a:avLst>
              <a:gd name="adj" fmla="val 3922"/>
            </a:avLst>
          </a:prstGeom>
          <a:solidFill>
            <a:srgbClr val="0F4C43"/>
          </a:solidFill>
          <a:ln/>
        </p:spPr>
      </p:sp>
      <p:sp>
        <p:nvSpPr>
          <p:cNvPr id="14" name="Text 9"/>
          <p:cNvSpPr/>
          <p:nvPr/>
        </p:nvSpPr>
        <p:spPr>
          <a:xfrm>
            <a:off x="758952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ESG ALLIANCE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7589520" y="402336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Catalyzing ESG, Competitiveness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Growth for a Developed India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946</Words>
  <Application>Microsoft Office PowerPoint</Application>
  <PresentationFormat>Widescreen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Srishti Singh</cp:lastModifiedBy>
  <cp:revision>3</cp:revision>
  <dcterms:created xsi:type="dcterms:W3CDTF">2026-09-10T09:55:08Z</dcterms:created>
  <dcterms:modified xsi:type="dcterms:W3CDTF">2026-09-10T10:14:50Z</dcterms:modified>
</cp:coreProperties>
</file>